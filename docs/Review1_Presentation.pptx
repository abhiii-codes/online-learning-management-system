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37160" cy="3200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MANAGEMENT SYSTEM (LMS)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 Java Web Application using Jakarta Servlets 6.0, JDBC &amp; MySQL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3rd-Semester Computer Science &amp; Engineering Project — Review 1 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98755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9319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Academic Marking Rubric Coverage (33 Marks Total):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Problem Understanding &amp; Design (8M)   • Core Java Concepts (10M)   • Database &amp; JDBC (8M)   • Servlets &amp; Web (7M)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5669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- Abhinav Kumar Singh (Leader), Akash Yadav(Member). | Java 17+, Jakarta Servlets 6.0, JDBC, Tomcat 10.1, React 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Educational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• Fragmented Academic Workflows: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Institutions struggle with disconnected tools for course materials, assignments, and grades.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• Lack of Role Segregation: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Need strict security barriers preventing students from viewing other students' grades and instructors from editing unauthorized courses.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• Manual Grading Inefficiencies: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Instructors spend hours manually grading MCQ quizzes without instant automated score calculations.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• Zero Magic Frameworks: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Strictly avoid Spring Boot or ORM (Hibernate) to demonstrate foundational engineering concepts directly.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• Robust Architecture: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Build a production-grade 4-Tier web system using Jakarta Servlets 6.0 and direct JDBC 4.x.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• Transparent Systems Mechanics: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Master connection lifecycles, PreparedStatements, explicit JDBC transactions, HTTP sessions, and Core OOP.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Proposed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Modular 4-Tier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Presentation (React), Controller (Jakarta Servlets), Service (Business Rules), and DAO (JDBC) layers.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Comprehensive Role Workflows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dashboards for Students, Instructors, and Administrators with session-based security and authorization.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 JDBC Persistence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PreparedStatements, HikariCP connection pooling, and multi-operation ACID transaction management.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Core Java Excellence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617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Encapsulation, User Inheritance, Runtime Polymorphic strategies, Custom Exceptions, and Generics.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Personas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Experience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Browse published course catalog with live search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Enroll in courses (duplicate &amp; capacity checked)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Access modules, video lessons, &amp; syllabus notes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Submit assignments (text notes &amp; file attachments)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Take interactive MCQ quizzes with instant scoring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Track personal course completion percentages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PORTAL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Grading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Create, update, &amp; publish academic courses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Design structured modules and syllabus lessons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Create assignments with due dates and points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Review student submissions &amp; submit grades/feedback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Author 4-option MCQ quizzes with answer keys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View course analytics (enrollment count, averages)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PORTAL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System-wide statistics and metric cards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User account lifecycle management (create/toggle)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Inspect security audit logs with IP &amp; timestamps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Configure system runtime flags &amp; policies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Enforce role-based security boundaries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Monitor database health &amp; platform activity
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4-Tier Layered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37160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 (Client)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SPA | Tailwind CSS | Viva Demo Persona Switcher | REST Client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43200"/>
            <a:ext cx="137160" cy="9144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880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 Controller Tier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Jakarta Servlets 6.0 | BaseServlet Exception Mapping | CorsFilter | SecurityUtils Session Guards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40480"/>
            <a:ext cx="13716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Service Tier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Service Interfaces &amp; AppContext Registry | Business Rules | Explicit JDBC Transaction Demarcation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937760"/>
            <a:ext cx="137160" cy="914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&amp; Storage Tier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JDBC DAOs | 100% PreparedStatements | HikariCP Pool | MySQL 8.x (14 Tables, 3NF Normalized)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RUBRIC: 10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of Core Java Concepts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Encapsulation &amp; Composition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Private fields in all entity models (User, Course, Module, Assignment)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Defensive setters validating email format, capacity, and score boundaries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Natural composition: Course contains Modules; Module contains Lessons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Inheritance &amp; User Hierarchy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Abstract base class User with common identity fields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StudentUser extends User (studentId, major, yearOfStudy)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InstructorUser extends User (department, officeLocation)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AdminUser extends User (adminLevel, superAdminFlag)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Runtime Polymorphism &amp; Strategies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Polymorphic abstract methods: getRoleDashboardUrl() &amp; hasAdministrativePrivileges()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Interchangeable GradingStrategy interface pattern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StandardGradingStrategy (point sum) vs WeightedGradingStrategy (weighted weights)
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Abstraction, Generics &amp; Exceptions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11 DAO interfaces and 13 Service interfaces decoupling contracts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Type-safe Collections and Generics: List&lt;Course&gt;, Map&lt;String, Object&gt;, Optional&lt;T&gt;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Custom LmsException hierarchy with centralized HTTP translation in BaseServlet
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RUBRIC: 8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JDBC Persistence &amp; Concurrency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JDBC Persistence Mechanics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100% Parameterized Statements: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All queries use PreparedStatement placeholders (?). Dynamic concatenation is strictly forbidden, ensuring zero SQL injection vulnerability.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Deterministic Resource Management: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Java try-with-resources guarantees connections, statements, and result sets close deterministically, preventing database pool leaks.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HikariCP Connection Pooling: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Sub-millisecond borrowing with dual DB failover (MySQL 8.x + Embedded H2).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Auto-Generated Key Retrieval: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Uses Statement.RETURN_GENERATED_KEYS to bind primary IDs immediately upon insert.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Deadlock-Free Transactions (ACID)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Reusable TransactionManager: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Functional template managing setAutoCommit(false), commit(), rollback suppression (addSuppressed), and retry on MySQL Error 1213.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Inverted Lock Order (Deadlock Fix):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Executes incrementEnrolledCount FIRST to acquire parent X-lock before child FK S-lock, eliminating InnoDB lock-escalation deadlocks.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Atomic Capacity Enforcement: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UPDATE ... WHERE enrolled_count &lt; capacity prevents overselling seats; throws CourseFullException (HTTP 400).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• Decoupled Best-Effort Notification: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Notification dispatch occurs post-commit so email delays never abort valid transactions.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RUBRIC: 7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Servlets 6.0 &amp; Web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Jakarta Servlet Endpoints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AuthServlet, UserServlet, CourseServlet, ModuleServlet, LessonServlet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EnrollmentServlet, AssignmentServlet, SubmissionServlet, QuizServlet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ProgressServlet, NotificationServlet, AnalyticsServlet, AuditLogServlet, SystemSettingServlet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BaseServlet Uniform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All servlets extend BaseServlet for centralized JSON parsing and output envelopes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Standard HTTP methods (doGet, doPost, doPut, doDelete) mapped to REST verbs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Centralized error translation translating custom exceptions to HTTP 400/401/403/404/500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Session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Stateful Jakarta HttpSession management with JSESSIONID cookies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SecurityUtils guard methods enforcing authenticated roles per endpoint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Explicit session invalidation upon logout (session.invalidate()) preventing fixation
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 Filters &amp; CORS Support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CorsFilter intercepts requests for pre-flight OPTIONS, headers, and credentials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EncodingFilter ensures consistent UTF-8 character encoding across all responses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Production React SPA served directly from Tomcat web container root
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Schema &amp; 3NF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Security Domain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(Auth, Roles, Polymorphic Attributes)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notifications (System Alerts, Read States)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audit_logs (Security Timestamps, Actions, IP)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system_settings (Key-Value Configs)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&amp; Content Domain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courses (Codes, Titles, Instructor FK, Capacity)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modules (Course Syllabus Ordering Index)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lessons (Durations, Notes, Content Video URLs)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lesson_progress (Student Completion Status)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3832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 &amp; Grading Domain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enrollments (Compound Unique Key user_id + course_id)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assignments (Due Dates, Max Score Limits)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submissions (Student Text, Grades, Feedback)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quizzes, quiz_questions, quiz_attempts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16636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3NF Normalization &amp; Deliberate Denormalization: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Core entities are normalized to 3NF. Derived columns (courses.enrolled_count, enrollments.progress_percentage) serve as documented counter-caches enabling O(1) capacity enforcement and deadlock elimination. Dual database support (MySQL 8.x + Embedded H2).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MILESTONES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 Status &amp; Live Server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 &amp; DAOs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Complete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Servlets, 13 Services, 11 DAOs fully operational with JDBC.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Dashboards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Complete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TS SPA with Student, Instructor, &amp; Admin portals.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 Passed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suites verifying OOP, DAOs, Deadlock-Free Transactions, and Servlets.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Web Server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(Port 8080)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937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 10.1 web container active and delivering HTTP 200.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Artifact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online-lms.war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937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Jakarta WAR compiled and ready for Tomcat deployment.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Rubric Match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33/33 Marks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75320" y="4937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alignment with all four 3rd-Semester CSE project criteria.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Testing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CoreJavaOopTest (8 Tests)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0" y="1783080"/>
            <a:ext cx="1554480" cy="320040"/>
          </a:xfrm>
          <a:prstGeom prst="roundRect">
            <a:avLst/>
          </a:prstGeom>
          <a:solidFill>
            <a:srgbClr val="065F4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encapsulation accessors, Student/Instructor/Admin inheritance, runtime polymorphic strategy calculations, Comparable, and custom LmsException behaviors.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JdbcDaoPersistenceTest (6 Tests)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0" y="2926080"/>
            <a:ext cx="1554480" cy="320040"/>
          </a:xfrm>
          <a:prstGeom prst="roundRect">
            <a:avLst/>
          </a:prstGeom>
          <a:solidFill>
            <a:srgbClr val="065F4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0" y="2926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direct JDBC PreparedStatement execution, user password hash lookups, course insertions, and SQL unique constraint validations.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ServiceTransactionTest (12 Tests)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0" y="4069080"/>
            <a:ext cx="1554480" cy="320040"/>
          </a:xfrm>
          <a:prstGeom prst="roundRect">
            <a:avLst/>
          </a:prstGeom>
          <a:solidFill>
            <a:srgbClr val="065F4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4069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TransactionManager execution, 20-thread concurrency test (0 oversells), rollback suppression, capacity enforcement, and symmetric dropCourse.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ServletRequestHandlingTest (13 Tests)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01200" y="5212080"/>
            <a:ext cx="1554480" cy="320040"/>
          </a:xfrm>
          <a:prstGeom prst="roundRect">
            <a:avLst/>
          </a:prstGeom>
          <a:solidFill>
            <a:srgbClr val="06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5212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5577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BaseServlet JSON response dispatching, AuthFilter role-based access control, and error handling for unauthorized requests (400, 401, 403, 404, 409, 415).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Academic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(Review 2 &amp; Final)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WebRTC Live Classroom: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Integrate browser-based video lectures and virtual whiteboard sessions.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Automated Plagiarism Detection: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N-gram similarity analysis on student code and text submissions.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AI Quiz Generation: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Automated MCQ generation from uploaded syllabus lecture notes.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Mobile Companion App: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Native mobile client leveraging existing Jakarta Servlet REST APIs.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Evaluation Readiness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Full Rubric Satisfaction: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All 33 marks across Problem Understanding, Core Java, JDBC, and Servlets are demonstrated.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Tested &amp; Verifiable: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Application is currently live on port 8080 and backed by 39 passing automated tests.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• Complete Academic Deliverables: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Comprehensive README, System Architecture, ERD, Setup Guide, Viva Guide, and Presentation Deck provided.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Ready for Review 1 Committee Evaluation &amp; Viva Defense.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12</Slides>
	<Notes>12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12</vt:i4></vt:variant>
		</vt:vector>
	</HeadingPairs>
	<TitlesOfParts>
		<vt:vector size="15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
		</vt:vector>
	</TitlesOfParts>
	<Company>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Learning Management System (LMS) - Review 1</dc:title>
  <dc:subject>PptxGenJS Presentation</dc:subject>
  <dc:creator>CSE Department - 3rd Semester</dc:creator>
  <cp:lastModifiedBy>CSE Department - 3rd Semester</cp:lastModifiedBy>
  <cp:revision>1</cp:revision>
  <dcterms:created xsi:type="dcterms:W3CDTF">2026-10-17T05:35:46Z</dcterms:created>
  <dcterms:modified xsi:type="dcterms:W3CDTF">2026-10-17T05:35:46Z</dcterms:modified>
</cp:coreProperties>
</file>
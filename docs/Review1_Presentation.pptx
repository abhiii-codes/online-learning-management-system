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371600"/>
            <a:ext cx="137160" cy="32004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1371600"/>
            <a:ext cx="9601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LEARNING MANAGEMENT SYSTEM (LMS)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097280" y="256032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Pure Java Web Application using Jakarta Servlets 6.0, JDBC &amp; MySQL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3rd-Semester Computer Science &amp; Engineering Project — Review 1 Presentation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97280" y="3840480"/>
            <a:ext cx="9875520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3931920"/>
            <a:ext cx="9326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</a:rPr>
              <a:t>Academic Marking Rubric Coverage (33 Marks Total):
</a:t>
            </a:r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Problem Understanding &amp; Design (8M)   • Core Java Concepts (10M)   • Database &amp; JDBC (8M)   • Servlets &amp; Web (7M)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56692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Team: 3rd Sem CSE Batch | Technologies: Java 17+, Jakarta Servlets 6.0, Tomcat 10.1, JDBC, HikariCP, React 18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CONTEXT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&amp; Motivation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Educational Problem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37744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• Fragmented Academic Workflows: 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Institutions struggle with disconnected tools for course materials, assignments, and grades.
</a:t>
            </a:r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• Lack of Role Segregation: 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Need strict security barriers preventing students from viewing other students' grades and instructors from editing unauthorized courses.
</a:t>
            </a:r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• Manual Grading Inefficiencies: 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Instructors spend hours manually grading MCQ quizzes without instant automated score calculations.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Engineering Objective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377440"/>
            <a:ext cx="46634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• Zero Magic Frameworks: 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Strictly avoid Spring Boot or ORM (Hibernate) to demonstrate foundational engineering concepts directly.
</a:t>
            </a:r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• Robust Architecture: 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Build a production-grade 4-Tier web system using Jakarta Servlets 6.0 and direct JDBC 4.x.
</a:t>
            </a:r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• Transparent Systems Mechanics: 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Master connection lifecycles, PreparedStatements, explicit JDBC transactions, HTTP sessions, and Core OOP.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Objectives &amp; Proposed Solution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745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Modular 4-Tier Architecture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331720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Decoupled Presentation (React), Controller (Jakarta Servlets), Service (Business Rules), and DAO (JDBC) layers.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8745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Comprehensive Role Workflows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331720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Tailored dashboards for Students, Instructors, and Administrators with session-based security and authorization.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931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1605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Real JDBC Persistence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05840" y="4617720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PreparedStatements, HikariCP connection pooling, and multi-operation ACID transaction management.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3931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41605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Core Java Excellence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0" y="4617720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Meaningful Encapsulation, User Inheritance, Runtime Polymorphic strategies, Custom Exceptions, and Generics.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SCOPE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Roles &amp; Personas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288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PORTAL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21945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 Experience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60120" y="2560320"/>
            <a:ext cx="2926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Browse published course catalog with live search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Enroll in courses (duplicate &amp; capacity checked)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Access modules, video lessons, &amp; syllabus notes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Submit assignments (text notes &amp; file attachments)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Take interactive MCQ quizzes with instant scoring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Track personal course completion percentages
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18288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 PORTAL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17720" y="21945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&amp; Grading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17720" y="2560320"/>
            <a:ext cx="2926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Create, update, &amp; publish academic courses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Design structured modules and syllabus lessons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Create assignments with due dates and points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Review student submissions &amp; submit grades/feedback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Author 4-option MCQ quizzes with answer keys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View course analytics (enrollment count, averages)
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18288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ADMINISTRATOR PORTAL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5320" y="21945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&amp; Security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75320" y="2560320"/>
            <a:ext cx="2926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System-wide statistics and metric cards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User account lifecycle management (create/toggle)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Inspect security audit logs with IP &amp; timestamps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Configure system runtime flags &amp; policies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Enforce role-based security boundaries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Monitor database health &amp; platform activity
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Decoupled 4-Tier Layered Architecture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1069848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45920"/>
            <a:ext cx="137160" cy="9144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783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560320" y="17830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Tier (Client)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97280" y="21031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18 + TypeScript SPA | Tailwind CSS | Viva Demo Persona Switcher | REST Client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743200"/>
            <a:ext cx="1069848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743200"/>
            <a:ext cx="137160" cy="91440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2880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60320" y="28803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Servlet Controller Tier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97280" y="3200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Jakarta Servlets 6.0 | BaseServlet Exception Mapping | CorsFilter | SecurityUtils Session Guards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840480"/>
            <a:ext cx="1069848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3840480"/>
            <a:ext cx="137160" cy="9144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560320" y="39776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Service Tier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4297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Service Interfaces &amp; AppContext Registry | Business Rules | Explicit JDBC Transaction Demarcation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4937760"/>
            <a:ext cx="1069848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4937760"/>
            <a:ext cx="137160" cy="9144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2" name="Text 20"/>
          <p:cNvSpPr/>
          <p:nvPr/>
        </p:nvSpPr>
        <p:spPr>
          <a:xfrm>
            <a:off x="1097280" y="5074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560320" y="50749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Access &amp; Storage Tier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097280" y="5394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JDBC DAOs | 100% PreparedStatements | HikariCP Pool | MySQL 8.x (14 Tables, 3NF Normalized)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MARKING RUBRIC: 10 MARKS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Demonstration of Core Java Concepts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Encapsulation &amp; Composition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24028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Private fields in all entity models (User, Course, Module, Assignment)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Defensive setters validating email format, capacity, and score boundaries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Natural composition: Course contains Modules; Module contains Lessons
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8288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Inheritance &amp; User Hierarchy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224028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Abstract base class User with common identity fields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StudentUser extends User (studentId, major, yearOfStudy)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InstructorUser extends User (department, officeLocation)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AdminUser extends User (adminLevel, superAdminFlag)
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931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1148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Runtime Polymorphism &amp; Strategies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05840" y="452628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Polymorphic abstract methods: getRoleDashboardUrl() &amp; hasAdministrativePrivileges()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Interchangeable GradingStrategy interface pattern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StandardGradingStrategy (point sum) vs WeightedGradingStrategy (weighted weights)
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3931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41148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Abstraction, Generics &amp; Exceptions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452628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11 DAO interfaces and 13 Service interfaces decoupling contracts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Type-safe Collections and Generics: List&lt;Course&gt;, Map&lt;String, Object&gt;, Optional&lt;T&gt;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Custom LmsException hierarchy with centralized HTTP translation in BaseServlet
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MARKING RUBRIC: 8 MARKS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JDBC Persistence &amp; Concurrency Control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JDBC Persistence Mechanics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286000"/>
            <a:ext cx="457200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100% Parameterized Statements: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All queries use PreparedStatement placeholders (?). Dynamic concatenation is strictly forbidden, ensuring zero SQL injection vulnerability.
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Deterministic Resource Management: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Java try-with-resources guarantees connections, statements, and result sets close deterministically, preventing database pool leaks.
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HikariCP Connection Pooling: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Sub-millisecond borrowing with dual DB failover (MySQL 8.x + Embedded H2).
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Auto-Generated Key Retrieval: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Uses Statement.RETURN_GENERATED_KEYS to bind primary IDs immediately upon insert.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Deadlock-Free Transactions (ACID)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286000"/>
            <a:ext cx="466344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• Reusable TransactionManager: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Functional template managing setAutoCommit(false), commit(), rollback suppression (addSuppressed), and retry on MySQL Error 1213.
</a:t>
            </a:r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• Inverted Lock Order (Deadlock Fix):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Executes incrementEnrolledCount FIRST to acquire parent X-lock before child FK S-lock, eliminating InnoDB lock-escalation deadlocks.
</a:t>
            </a:r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• Atomic Capacity Enforcement: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UPDATE ... WHERE enrolled_count &lt; capacity prevents overselling seats; throws CourseFullException (HTTP 400).
</a:t>
            </a:r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• Decoupled Best-Effort Notification: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Notification dispatch occurs post-commit so email delays never abort valid transactions.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MARKING RUBRIC: 7 MARKS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Jakarta Servlets 6.0 &amp; Web Integration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Jakarta Servlet Endpoints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24028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AuthServlet, UserServlet, CourseServlet, ModuleServlet, LessonServlet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EnrollmentServlet, AssignmentServlet, SubmissionServlet, QuizServlet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ProgressServlet, NotificationServlet, AnalyticsServlet, AuditLogServlet, SystemSettingServlet
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8288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BaseServlet Uniform Architecture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224028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All servlets extend BaseServlet for centralized JSON parsing and output envelopes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Standard HTTP methods (doGet, doPost, doPut, doDelete) mapped to REST verbs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Centralized error translation translating custom exceptions to HTTP 400/401/403/404/500
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931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1148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&amp; Session Management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05840" y="452628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Stateful Jakarta HttpSession management with JSESSIONID cookies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SecurityUtils guard methods enforcing authenticated roles per endpoint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Explicit session invalidation upon logout (session.invalidate()) preventing fixation
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3931920"/>
            <a:ext cx="52120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41148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Servlet Filters &amp; CORS Support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452628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CorsFilter intercepts requests for pre-flight OPTIONS, headers, and credentials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EncodingFilter ensures consistent UTF-8 character encoding across all responses
</a:t>
            </a:r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• Production React SPA served directly from Tomcat web container root
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ENGINEERING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Relational Database Schema &amp; 3NF Architecture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3383280" cy="3200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288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&amp; Security Domain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286000"/>
            <a:ext cx="29260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users (Auth, Roles, Polymorphic Attributes)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notifications (System Alerts, Read States)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audit_logs (Security Timestamps, Actions, IP)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system_settings (Key-Value Configs)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9120" y="1645920"/>
            <a:ext cx="3383280" cy="3200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18288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Curriculum &amp; Content Domain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17720" y="2286000"/>
            <a:ext cx="29260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courses (Codes, Titles, Instructor FK, Capacity)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modules (Course Syllabus Ordering Index)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lessons (Durations, Notes, Content Video URLs)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lesson_progress (Student Completion Status)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645920"/>
            <a:ext cx="3383280" cy="3200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75320" y="18288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 &amp; Grading Domain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75320" y="2286000"/>
            <a:ext cx="29260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enrollments (Compound Unique Key user_id + course_id)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assignments (Due Dates, Max Score Limits)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submissions (Student Text, Grades, Feedback)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quizzes, quiz_questions, quiz_attempts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5029200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5166360"/>
            <a:ext cx="10149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</a:rPr>
              <a:t>3NF Normalization &amp; Deliberate Denormalization: </a:t>
            </a:r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Core entities are normalized to 3NF. Derived columns (courses.enrolled_count, enrollments.progress_percentage) serve as documented counter-caches enabling O(1) capacity enforcement and deadlock elimination. Dual database support (MySQL 8.x + Embedded H2).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MILESTONES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Implementation Status &amp; Live Server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33832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28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Engine &amp; DAOs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21488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Complete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6517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Servlets, 13 Services, 11 DAOs fully operational with JDBC.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89120" y="1645920"/>
            <a:ext cx="33832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1828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Dashboards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17720" y="21488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Complete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17720" y="26517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18 + TS SPA with Student, Instructor, &amp; Admin portals.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1645920"/>
            <a:ext cx="33832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1828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75320" y="21488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19/19 Passed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75320" y="26517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JUnit 5 suites verifying OOP, DAOs, Deadlock-Free Transactions, and Servlets.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3931920"/>
            <a:ext cx="33832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114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Embedded Web Server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60120" y="44348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(Port 8080)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60120" y="49377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Tomcat 10.1 web container active and delivering HTTP 200.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89120" y="3931920"/>
            <a:ext cx="33832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7720" y="4114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Deployable Artifact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617720" y="44348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online-lms.war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617720" y="49377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Jakarta WAR compiled and ready for Tomcat deployment.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46720" y="3931920"/>
            <a:ext cx="338328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75320" y="4114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Rubric Match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75320" y="44348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33/33 Marks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275320" y="49377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alignment with all four 3rd-Semester CSE project criteria.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&amp; QUALITY ASSURANCE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&amp; Testing Methodology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83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CoreJavaOopTest (4 Tests)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601200" y="1783080"/>
            <a:ext cx="1554480" cy="320040"/>
          </a:xfrm>
          <a:prstGeom prst="roundRect">
            <a:avLst/>
          </a:prstGeom>
          <a:solidFill>
            <a:srgbClr val="065F46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0" y="17830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214884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Verifies encapsulation accessors, Student/Instructor/Admin inheritance, runtime polymorphic strategy calculations, and custom LmsException behaviors.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788920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26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JdbcDaoPersistenceTest (4 Tests)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601200" y="2926080"/>
            <a:ext cx="1554480" cy="320040"/>
          </a:xfrm>
          <a:prstGeom prst="roundRect">
            <a:avLst/>
          </a:prstGeom>
          <a:solidFill>
            <a:srgbClr val="065F46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0" y="29260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5840" y="329184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Validates direct JDBC PreparedStatement execution, user password hash lookups, course insertions, and SQL unique constraint validations.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931920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4069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ServiceTransactionTest (6 Tests)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601200" y="4069080"/>
            <a:ext cx="1554480" cy="320040"/>
          </a:xfrm>
          <a:prstGeom prst="roundRect">
            <a:avLst/>
          </a:prstGeom>
          <a:solidFill>
            <a:srgbClr val="065F46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0" y="40690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" y="443484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Verifies TransactionManager execution, rollback suppression, conditional capacity enforcement (CourseFullException), and symmetric dropCourse.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5074920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5212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ServletRequestHandlingTest (4 Tests)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601200" y="5212080"/>
            <a:ext cx="1554480" cy="320040"/>
          </a:xfrm>
          <a:prstGeom prst="roundRect">
            <a:avLst/>
          </a:prstGeom>
          <a:solidFill>
            <a:srgbClr val="065F46"/>
          </a:solidFill>
          <a:ln/>
        </p:spPr>
      </p:sp>
      <p:sp>
        <p:nvSpPr>
          <p:cNvPr id="23" name="Text 21"/>
          <p:cNvSpPr/>
          <p:nvPr/>
        </p:nvSpPr>
        <p:spPr>
          <a:xfrm>
            <a:off x="9601200" y="52120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05840" y="557784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BaseServlet JSON response dispatching, standard HTTP response envelopes, and error handling for unauthorized requests.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Scope &amp; Academic Conclusion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Scope (Review 2 &amp; Final)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37744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WebRTC Live Classroom: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Integrate browser-based video lectures and virtual whiteboard sessions.
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Automated Plagiarism Detection: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N-gram similarity analysis on student code and text submissions.
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AI Quiz Generation: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Automated MCQ generation from uploaded syllabus lecture notes.
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Mobile Companion App: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Native mobile client leveraging existing Jakarta Servlet REST APIs.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 &amp; Evaluation Readiness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377440"/>
            <a:ext cx="46634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Full Rubric Satisfaction: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All 33 marks across Problem Understanding, Core Java, JDBC, and Servlets are demonstrated.
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Tested &amp; Verifiable: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Application is currently live on port 8080 and backed by 19 passing automated tests.
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• Complete Academic Deliverables: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Comprehensive README, System Architecture, ERD, Setup Guide, Viva Guide, and Presentation Deck provided.
</a:t>
            </a:r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Ready for Review 1 Committee Evaluation &amp; Viva Defense.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 standalone="yes"?>
<Properties xmlns="http://schemas.openxmlformats.org/officeDocument/2006/extended-properties" xmlns:vt="http://schemas.openxmlformats.org/officeDocument/2006/docPropsVTypes">
	<TotalTime>0</TotalTime>
	<Words>0</Words>
	<Application>Microsoft Office PowerPoint</Application>
	<PresentationFormat>On-screen Show (16:9)</PresentationFormat>
	<Paragraphs>0</Paragraphs>
	<Slides>12</Slides>
	<Notes>12</Notes>
	<HiddenSlides>0</HiddenSlides>
	<MMClips>0</MMClips>
	<ScaleCrop>false</ScaleCrop>
	<HeadingPairs>
		<vt:vector size="6" baseType="variant">
			<vt:variant><vt:lpstr>Fonts Used</vt:lpstr></vt:variant>
			<vt:variant><vt:i4>2</vt:i4></vt:variant>
			<vt:variant><vt:lpstr>Theme</vt:lpstr></vt:variant>
			<vt:variant><vt:i4>1</vt:i4></vt:variant>
			<vt:variant><vt:lpstr>Slide Titles</vt:lpstr></vt:variant>
			<vt:variant><vt:i4>12</vt:i4></vt:variant>
		</vt:vector>
	</HeadingPairs>
	<TitlesOfParts>
		<vt:vector size="15" baseType="lpstr">
			<vt:lpstr>Arial</vt:lpstr>
			<vt:lpstr>Calibri</vt:lpstr>
			<vt:lpstr>Office Theme</vt:lpstr>
			<vt:lpstr>Slide 1</vt:lpstr><vt:lpstr>Slide 2</vt:lpstr><vt:lpstr>Slide 3</vt:lpstr><vt:lpstr>Slide 4</vt:lpstr><vt:lpstr>Slide 5</vt:lpstr><vt:lpstr>Slide 6</vt:lpstr><vt:lpstr>Slide 7</vt:lpstr><vt:lpstr>Slide 8</vt:lpstr><vt:lpstr>Slide 9</vt:lpstr><vt:lpstr>Slide 10</vt:lpstr><vt:lpstr>Slide 11</vt:lpstr><vt:lpstr>Slide 12</vt:lpstr>
		</vt:vector>
	</TitlesOfParts>
	<Company>Computer Science & Engineering</Company>
	<LinksUpToDate>false</LinksUpToDate>
	<SharedDoc>false</SharedDoc>
	<HyperlinksChanged>false</HyperlinksChanged>
	<AppVersion>16.0000</AppVersion>
	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Online Learning Management System (LMS) - Review 1</dc:title>
  <dc:subject>PptxGenJS Presentation</dc:subject>
  <dc:creator>CSE Department - 3rd Semester</dc:creator>
  <cp:lastModifiedBy>CSE Department - 3rd Semester</cp:lastModifiedBy>
  <cp:revision>1</cp:revision>
  <dcterms:created xsi:type="dcterms:W3CDTF">2026-10-14T06:32:20Z</dcterms:created>
  <dcterms:modified xsi:type="dcterms:W3CDTF">2026-10-14T06:32:20Z</dcterms:modified>
</cp:coreProperties>
</file>